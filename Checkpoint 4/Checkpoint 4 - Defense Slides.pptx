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71fb26c5-8295-ef2d-31af-5e70ce2f90ea}">
          <p14:sldIdLst>
            <p14:sldId id="256"/>
          </p14:sldIdLst>
        </p14:section>
        <p14:section name="1 Introduction" id="{9a79bba3-2a81-6974-b2c6-9bc9a9118596}">
          <p14:sldIdLst>
            <p14:sldId id="257"/>
          </p14:sldIdLst>
        </p14:section>
        <p14:section name="2 Data &amp; SQL" id="{a6e0ee29-1f3d-fc79-e357-0819f0d0ce52}">
          <p14:sldIdLst>
            <p14:sldId id="258"/>
            <p14:sldId id="259"/>
          </p14:sldIdLst>
        </p14:section>
        <p14:section name="2 Data &amp; SQL" id="{95b98aa3-3437-3308-9201-cba9508593cc}">
          <p14:sldIdLst/>
        </p14:section>
        <p14:section name="3 Statistics" id="{6e15e741-f93f-4100-0b19-a49131314e8e}">
          <p14:sldIdLst>
            <p14:sldId id="260"/>
            <p14:sldId id="261"/>
          </p14:sldIdLst>
        </p14:section>
        <p14:section name="3 Statistics" id="{8954e015-4d40-3153-4c0a-7a92192ef32c}">
          <p14:sldIdLst/>
        </p14:section>
        <p14:section name="4 Dashboard" id="{ae160719-024e-9e5f-55db-31d069cc6158}">
          <p14:sldIdLst>
            <p14:sldId id="262"/>
            <p14:sldId id="263"/>
          </p14:sldIdLst>
        </p14:section>
        <p14:section name="4 Dashboard" id="{73b56c3d-67be-a79e-1a30-8d5020edad77}">
          <p14:sldIdLst/>
        </p14:section>
        <p14:section name="5 Predictive analytics" id="{6b68eefb-a002-560d-d665-ad77d7c6fa66}">
          <p14:sldIdLst>
            <p14:sldId id="264"/>
            <p14:sldId id="265"/>
            <p14:sldId id="266"/>
            <p14:sldId id="267"/>
          </p14:sldIdLst>
        </p14:section>
        <p14:section name="5 Predictive analytics" id="{63c42fbc-b5ed-840f-4b95-8ffa3f789cdb}">
          <p14:sldIdLst/>
        </p14:section>
        <p14:section name="5 Predictive analytics" id="{dab430c8-1d0d-2fd1-e0fb-2a9ab99565d9}">
          <p14:sldIdLst/>
        </p14:section>
        <p14:section name="5 Predictive analytics" id="{3badf75b-b930-fc7c-ffdc-312707685b8f}">
          <p14:sldIdLst/>
        </p14:section>
        <p14:section name="6 Ethics &amp; governance" id="{5b51fe7e-837d-fe21-3526-baf9a804ae4e}">
          <p14:sldIdLst>
            <p14:sldId id="268"/>
          </p14:sldIdLst>
        </p14:section>
        <p14:section name="Q&amp;A" id="{e5570918-7d44-07ee-88d2-d62fc898ee21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37E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237E"/>
                </a:solidFill>
                <a:latin typeface="Arial"/>
              </a:rPr>
              <a:t>Order lines by quantity bucket (n = 5,055)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 lines</c:v>
                </c:pt>
              </c:strCache>
            </c:strRef>
          </c:tx>
          <c:spPr>
            <a:solidFill>
              <a:srgbClr val="1A237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3–5</c:v>
                  </c:pt>
                  <c:pt idx="3">
                    <c:v>6–10</c:v>
                  </c:pt>
                  <c:pt idx="4">
                    <c:v>11–25</c:v>
                  </c:pt>
                  <c:pt idx="5">
                    <c:v>26–50</c:v>
                  </c:pt>
                  <c:pt idx="6">
                    <c:v>51–100</c:v>
                  </c:pt>
                  <c:pt idx="7">
                    <c:v>100+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1509</c:v>
                </c:pt>
                <c:pt idx="1">
                  <c:v>700</c:v>
                </c:pt>
                <c:pt idx="2">
                  <c:v>730</c:v>
                </c:pt>
                <c:pt idx="3">
                  <c:v>814</c:v>
                </c:pt>
                <c:pt idx="4">
                  <c:v>981</c:v>
                </c:pt>
                <c:pt idx="5">
                  <c:v>175</c:v>
                </c:pt>
                <c:pt idx="6">
                  <c:v>81</c:v>
                </c:pt>
                <c:pt idx="7">
                  <c:v>65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Units per line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5F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5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5F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37E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237E"/>
                </a:solidFill>
                <a:latin typeface="Arial"/>
              </a:rPr>
              <a:t>Customers vs revenue share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customers</c:v>
                </c:pt>
              </c:strCache>
            </c:strRef>
          </c:tx>
          <c:spPr>
            <a:solidFill>
              <a:srgbClr val="3949A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High-Value</c:v>
                  </c:pt>
                  <c:pt idx="1">
                    <c:v>Mid-Value</c:v>
                  </c:pt>
                  <c:pt idx="2">
                    <c:v>Low / One-Time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2.1</c:v>
                </c:pt>
                <c:pt idx="1">
                  <c:v>56.1</c:v>
                </c:pt>
                <c:pt idx="2">
                  <c:v>41.8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% of revenue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High-Value</c:v>
                  </c:pt>
                  <c:pt idx="1">
                    <c:v>Mid-Value</c:v>
                  </c:pt>
                  <c:pt idx="2">
                    <c:v>Low / One-Time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27.2</c:v>
                </c:pt>
                <c:pt idx="1">
                  <c:v>59.4</c:v>
                </c:pt>
                <c:pt idx="2">
                  <c:v>13.4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5F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5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5F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37E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237E"/>
                </a:solidFill>
                <a:latin typeface="Arial"/>
              </a:rPr>
              <a:t>R² by model — price adds almost nothing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</c:v>
                </c:pt>
              </c:strCache>
            </c:strRef>
          </c:tx>
          <c:spPr>
            <a:solidFill>
              <a:srgbClr val="3949AB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M1 Lines only (CP2)</c:v>
                  </c:pt>
                  <c:pt idx="1">
                    <c:v>M2 Lines + Quantity</c:v>
                  </c:pt>
                  <c:pt idx="2">
                    <c:v>M3 + Avg price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0.4777</c:v>
                </c:pt>
                <c:pt idx="1">
                  <c:v>0.8018</c:v>
                </c:pt>
                <c:pt idx="2">
                  <c:v>0.8028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3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b"/>
        <c:majorGridlines>
          <c:spPr>
            <a:ln w="6350" cap="flat">
              <a:solidFill>
                <a:srgbClr val="E3E5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5F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Whole group on screen. Jeziel opens. Timing: 20–25 minutes total — intro 2–3, data &amp; SQL 3–4, statistics 3–4, live dashboard 5–6, predictive 4–5, ethics 1–2, Q&amp;A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Cues (say in your own words): the business, what goes wrong without segmentation, the 3 questions, who did what. Data: UCI/Kaggle Online Retail sample, 1–3 Dec 2010, 300 invoices, 207 customers. Keep to 2–3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ERD: customers 1→many invoices, invoices 1→many invoice_items, products 1→many invoice_items. Built in MySQL via phpMyAdmin (retail_customer_analytics). Point to the 4 cleaned tables and why normalizing helps (questions cut across customers, orders and products).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phpMyAdmin if asked to demo a query live (Query 3 or 7). Be ready to explain GROUP BY and the JOIN in Query 5/6. UK share computed from the 271 completed invoices; guest checkouts (11 invoices, £11.8K) have no country, so the country chart sums to less than total revenue.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Cues: right-skewed distribution; mean &gt; median &gt; mode; std dev (58.3) bigger than the mean. Source: Checkpoint 2 workbook, Descriptive Statistics sheet. Be ready to explain mean vs median and why skew matters for inventory.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ready to define Pearson r, R², and the p-value. Note: "items per invoice" = number of distinct product lines, not units. In the CP2 sheet the cell labelled "Standard Error (slope)" shows 484.56, which is the model standard error — the slope SE is 0.596; correct this label before the defense if you reuse that sheet.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Customer Segmentation Dashboard.pbix (or the published link). Demo plan: (1) Page 1 – click a country in the slicer and show the cards and top-10 products react; clear it. (2) Page 2 – drag the date range and show orders by hour change; point to the 9.7% cancelled-order rate. Practise this twice. Expected values: £106,185.83 revenue, 271 orders, 207 customers, £391.83 AOV.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LIVE: click the Segment slicer (High-Value) and show the customer detail table filter; use drill-through if set up. Be ready to explain K-Means, why k = 3 (silhouette: k=2 0.553, k=3 0.437, k=4 0.487, k=5 0.463; k = 3 chosen as the smallest giving actionable groups), and why spend was log-transformed.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Excel workbook: Checkpoint 4 - Predictive Model.xlsx (Regression sheet = LINEST / ToolPak-style output). Be ready to explain: what each coefficient means holding the other constant; R² vs adjusted R²; why average price was left out (ΔR² = 0.0009, p = 0.26); the F-test.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calculator: Predictions sheet in the workbook — change the blue cells (lines, units) and show the prediction update. Limits to be ready for: only 3 days of data; quantity is partly built into invoice value (value = quantity × price); outliers up to £6,308 vs median £248.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ready to explain each coefficient (holding the other predictor constant), the p-values, and why average price was left out of the final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Also mention: predictors are not collinear (r = 0.27, VIF ≈ 1.08); trend-based forecasting was rejected because CP2 trend R² = 0.047 (p = 0.31). A longer window (source data runs to 2011-12-09) would allow a real trend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ready to explain what “personal data” means under RA 10173 and why a numeric CustomerID combined with purchase history can still identify a person.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 PREP — every member should be able to answer ANY of these: 1) Why k = 3 and not 2? (silhouette 0.553 vs 0.437; k = 3 gives actionable groups). 2) Why log-transform spend? (heavy right skew). 3) What does R² = 0.80 mean — and its limits? 4) Why is average price not in the model? 5) Why not a time-trend forecast? (3 days, R² = 0.047, p = 0.31). 6) Why are guest customers excluded from segmentation? (no CustomerID; 18 customers had no completed order). 7) What is a JOIN / GROUP BY — walk through Query 5 or 3. 8) What does the 9.7% cancellation rate tell the business? 9) Which part of the ethics reflection would you act on first? 10) What would you do with the full year of data?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T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926080"/>
            <a:ext cx="78638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C5CAE9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60120" y="256032"/>
            <a:ext cx="612648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3" name="Text 0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 106 | Customer Segmentation &amp; Purchase Behavior Analysis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F7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F7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Segmentation &amp; Purchase Behavior Analysis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92608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 106 — Business Analytics | Mini Capstone Final Defense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5CA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Jeziel Lea Mitch Credo • Nicka Hinlayagan • Jennilyn Manatad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5CA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Instructor: Jessie A. Melendres  |  Talibon Polytechnic College  |  A.Y. 2026–2027, 1st Semester</a:t>
            </a:r>
            <a:endParaRPr lang="en-US" sz="1600" dirty="0"/>
          </a:p>
        </p:txBody>
      </p:sp>
      <p:sp>
        <p:nvSpPr>
          <p:cNvPr id="4" name="Title badge"/>
          <p:cNvSpPr/>
          <p:nvPr/>
        </p:nvSpPr>
        <p:spPr>
          <a:xfrm>
            <a:off x="640080" y="640080"/>
            <a:ext cx="548640" cy="5486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640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6400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 4 — Final Defense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60120" y="256032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all customers treated alike</a:t>
            </a:r>
            <a:endParaRPr lang="en-US" sz="2200" dirty="0"/>
          </a:p>
        </p:txBody>
      </p:sp>
      <p:sp>
        <p:nvSpPr>
          <p:cNvPr id="3" name="Section badge"/>
          <p:cNvSpPr/>
          <p:nvPr/>
        </p:nvSpPr>
        <p:spPr>
          <a:xfrm>
            <a:off x="411480" y="301752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ection number"/>
          <p:cNvSpPr txBox="1"/>
          <p:nvPr/>
        </p:nvSpPr>
        <p:spPr>
          <a:xfrm>
            <a:off x="411480" y="301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Speaker pill"/>
          <p:cNvSpPr/>
          <p:nvPr/>
        </p:nvSpPr>
        <p:spPr>
          <a:xfrm>
            <a:off x="7269480" y="347472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F3F4FA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6" name="Speaker"/>
          <p:cNvSpPr txBox="1"/>
          <p:nvPr/>
        </p:nvSpPr>
        <p:spPr>
          <a:xfrm>
            <a:off x="7269480" y="347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Speaker: Jeziel</a:t>
            </a:r>
            <a:endParaRPr lang="en-US" sz="1100" dirty="0"/>
          </a:p>
        </p:txBody>
      </p:sp>
      <p:sp>
        <p:nvSpPr>
          <p:cNvPr id="7" name="Problem card"/>
          <p:cNvSpPr/>
          <p:nvPr/>
        </p:nvSpPr>
        <p:spPr>
          <a:xfrm>
            <a:off x="457200" y="1051560"/>
            <a:ext cx="3931920" cy="2331720"/>
          </a:xfrm>
          <a:prstGeom prst="roundRect">
            <a:avLst>
              <a:gd name="adj" fmla="val 3137"/>
            </a:avLst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188720"/>
            <a:ext cx="35661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business problem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UK online gift retailer markets and stocks as if all customers were alike — so marketing spend is untargeted, best customers are not specifically retained, and returned products go unflagged.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10515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business questions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634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257800" y="1463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are the most valuable customers?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2121408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63440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257800" y="212140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products and countries drive revenue?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63440" y="2779776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63440" y="2779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257800" y="277977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gets cancelled or returned most?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611880"/>
            <a:ext cx="2697480" cy="868680"/>
          </a:xfrm>
          <a:prstGeom prst="roundRect">
            <a:avLst>
              <a:gd name="adj" fmla="val 8421"/>
            </a:avLst>
          </a:prstGeom>
          <a:solidFill>
            <a:srgbClr val="F3F4FA"/>
          </a:solidFill>
          <a:ln w="12700">
            <a:solidFill>
              <a:srgbClr val="D9DC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361188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Jeziel Lea Mitch Credo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5A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Lead / BI Developer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91840" y="3611880"/>
            <a:ext cx="2697480" cy="868680"/>
          </a:xfrm>
          <a:prstGeom prst="roundRect">
            <a:avLst>
              <a:gd name="adj" fmla="val 8421"/>
            </a:avLst>
          </a:prstGeom>
          <a:solidFill>
            <a:srgbClr val="F3F4FA"/>
          </a:solidFill>
          <a:ln w="12700">
            <a:solidFill>
              <a:srgbClr val="D9DC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429000" y="361188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Nicka Hinlayagan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5A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Engineer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126480" y="3611880"/>
            <a:ext cx="2697480" cy="868680"/>
          </a:xfrm>
          <a:prstGeom prst="roundRect">
            <a:avLst>
              <a:gd name="adj" fmla="val 8421"/>
            </a:avLst>
          </a:prstGeom>
          <a:solidFill>
            <a:srgbClr val="F3F4FA"/>
          </a:solidFill>
          <a:ln w="12700">
            <a:solidFill>
              <a:srgbClr val="D9DCE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63640" y="361188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Jennilyn Manatad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5A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Statistician / Modeler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F7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60120" y="256032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one flat file to four related tables</a:t>
            </a:r>
            <a:endParaRPr lang="en-US" sz="2200" dirty="0"/>
          </a:p>
        </p:txBody>
      </p:sp>
      <p:sp>
        <p:nvSpPr>
          <p:cNvPr id="3" name="Section badge"/>
          <p:cNvSpPr/>
          <p:nvPr/>
        </p:nvSpPr>
        <p:spPr>
          <a:xfrm>
            <a:off x="411480" y="301752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ection number"/>
          <p:cNvSpPr txBox="1"/>
          <p:nvPr/>
        </p:nvSpPr>
        <p:spPr>
          <a:xfrm>
            <a:off x="411480" y="301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Speaker pill"/>
          <p:cNvSpPr/>
          <p:nvPr/>
        </p:nvSpPr>
        <p:spPr>
          <a:xfrm>
            <a:off x="7269480" y="347472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F3F4FA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6" name="Speaker"/>
          <p:cNvSpPr txBox="1"/>
          <p:nvPr/>
        </p:nvSpPr>
        <p:spPr>
          <a:xfrm>
            <a:off x="7269480" y="347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Speaker: Nicka</a:t>
            </a:r>
            <a:endParaRPr lang="en-US" sz="1100" dirty="0"/>
          </a:p>
        </p:txBody>
      </p:sp>
      <p:pic>
        <p:nvPicPr>
          <p:cNvPr id="7" name="ERD diagram of the retail_customer_analytics database" descr="ERD diagram of the retail_customer_analytics databa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102093"/>
            <a:ext cx="5120640" cy="3099335"/>
          </a:xfrm>
          <a:prstGeom prst="rect">
            <a:avLst/>
          </a:prstGeom>
        </p:spPr>
      </p:pic>
      <p:sp>
        <p:nvSpPr>
          <p:cNvPr id="8" name="Card invoices (271 completed)"/>
          <p:cNvSpPr/>
          <p:nvPr/>
        </p:nvSpPr>
        <p:spPr>
          <a:xfrm>
            <a:off x="5760720" y="1051560"/>
            <a:ext cx="1463040" cy="960120"/>
          </a:xfrm>
          <a:prstGeom prst="roundRect">
            <a:avLst>
              <a:gd name="adj" fmla="val 7619"/>
            </a:avLst>
          </a:prstGeom>
          <a:solidFill>
            <a:srgbClr val="F3F4FA"/>
          </a:solidFill>
          <a:ln w="12700">
            <a:solidFill>
              <a:srgbClr val="D9DCE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852160" y="1124712"/>
            <a:ext cx="128016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5852160" y="1608430"/>
            <a:ext cx="128016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invoices (271 completed)</a:t>
            </a:r>
            <a:endParaRPr lang="en-US" sz="1000" dirty="0"/>
          </a:p>
        </p:txBody>
      </p:sp>
      <p:sp>
        <p:nvSpPr>
          <p:cNvPr id="11" name="Card customers"/>
          <p:cNvSpPr/>
          <p:nvPr/>
        </p:nvSpPr>
        <p:spPr>
          <a:xfrm>
            <a:off x="7315200" y="1051560"/>
            <a:ext cx="1463040" cy="960120"/>
          </a:xfrm>
          <a:prstGeom prst="roundRect">
            <a:avLst>
              <a:gd name="adj" fmla="val 7619"/>
            </a:avLst>
          </a:prstGeom>
          <a:solidFill>
            <a:srgbClr val="F3F4FA"/>
          </a:solidFill>
          <a:ln w="12700">
            <a:solidFill>
              <a:srgbClr val="D9DCE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406640" y="1124712"/>
            <a:ext cx="128016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207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7406640" y="1608430"/>
            <a:ext cx="128016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14" name="Card products"/>
          <p:cNvSpPr/>
          <p:nvPr/>
        </p:nvSpPr>
        <p:spPr>
          <a:xfrm>
            <a:off x="5760720" y="2103120"/>
            <a:ext cx="1463040" cy="960120"/>
          </a:xfrm>
          <a:prstGeom prst="roundRect">
            <a:avLst>
              <a:gd name="adj" fmla="val 7619"/>
            </a:avLst>
          </a:prstGeom>
          <a:solidFill>
            <a:srgbClr val="F3F4FA"/>
          </a:solidFill>
          <a:ln w="12700">
            <a:solidFill>
              <a:srgbClr val="D9DCE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852160" y="2176272"/>
            <a:ext cx="128016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1,597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5852160" y="2659990"/>
            <a:ext cx="128016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</a:t>
            </a:r>
            <a:endParaRPr lang="en-US" sz="1100" dirty="0"/>
          </a:p>
        </p:txBody>
      </p:sp>
      <p:sp>
        <p:nvSpPr>
          <p:cNvPr id="17" name="Card order lines"/>
          <p:cNvSpPr/>
          <p:nvPr/>
        </p:nvSpPr>
        <p:spPr>
          <a:xfrm>
            <a:off x="7315200" y="2103120"/>
            <a:ext cx="1463040" cy="960120"/>
          </a:xfrm>
          <a:prstGeom prst="roundRect">
            <a:avLst>
              <a:gd name="adj" fmla="val 7619"/>
            </a:avLst>
          </a:prstGeom>
          <a:solidFill>
            <a:srgbClr val="F3F4FA"/>
          </a:solidFill>
          <a:ln w="12700">
            <a:solidFill>
              <a:srgbClr val="D9DCE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406640" y="2176272"/>
            <a:ext cx="128016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5,129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7406640" y="2659990"/>
            <a:ext cx="128016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lines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760720" y="32004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 (CP1): </a:t>
            </a:r>
            <a:pPr indent="0" marL="0">
              <a:buNone/>
            </a:pPr>
            <a:r>
              <a:rPr lang="en-US" sz="1200" dirty="0">
                <a:solidFill>
                  <a:srgbClr val="1F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 5,268 duplicates, 2,910 non-merchandise codes, 1,047 invalid prices; kept real cancellations (“C” invoices).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F7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60120" y="256032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SQL findings from the database</a:t>
            </a:r>
            <a:endParaRPr lang="en-US" sz="2200" dirty="0"/>
          </a:p>
        </p:txBody>
      </p:sp>
      <p:sp>
        <p:nvSpPr>
          <p:cNvPr id="3" name="Section badge"/>
          <p:cNvSpPr/>
          <p:nvPr/>
        </p:nvSpPr>
        <p:spPr>
          <a:xfrm>
            <a:off x="411480" y="301752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ection number"/>
          <p:cNvSpPr txBox="1"/>
          <p:nvPr/>
        </p:nvSpPr>
        <p:spPr>
          <a:xfrm>
            <a:off x="411480" y="301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Speaker pill"/>
          <p:cNvSpPr/>
          <p:nvPr/>
        </p:nvSpPr>
        <p:spPr>
          <a:xfrm>
            <a:off x="7269480" y="347472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F3F4FA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6" name="Speaker"/>
          <p:cNvSpPr txBox="1"/>
          <p:nvPr/>
        </p:nvSpPr>
        <p:spPr>
          <a:xfrm>
            <a:off x="7269480" y="347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Speaker: Nicka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97480" cy="2331720"/>
          </a:xfrm>
          <a:prstGeom prst="roundRect">
            <a:avLst>
              <a:gd name="adj" fmla="val 3137"/>
            </a:avLst>
          </a:prstGeom>
          <a:solidFill>
            <a:srgbClr val="F3F4FA"/>
          </a:solidFill>
          <a:ln w="12700">
            <a:solidFill>
              <a:srgbClr val="D9DC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1887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84.9%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9659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completed revenue comes from the UK (£90,181 of £106,186)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9260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3 — revenue by country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051560"/>
            <a:ext cx="2697480" cy="2331720"/>
          </a:xfrm>
          <a:prstGeom prst="roundRect">
            <a:avLst>
              <a:gd name="adj" fmla="val 3137"/>
            </a:avLst>
          </a:prstGeom>
          <a:solidFill>
            <a:srgbClr val="F3F4FA"/>
          </a:solidFill>
          <a:ln w="12700">
            <a:solidFill>
              <a:srgbClr val="D9DC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83280" y="11887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groups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19659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High-Value, Repeat and One-Time customers from spend + order count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29260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7 — segmentation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051560"/>
            <a:ext cx="2697480" cy="2331720"/>
          </a:xfrm>
          <a:prstGeom prst="roundRect">
            <a:avLst>
              <a:gd name="adj" fmla="val 3137"/>
            </a:avLst>
          </a:prstGeom>
          <a:solidFill>
            <a:srgbClr val="F3F4FA"/>
          </a:solidFill>
          <a:ln w="12700">
            <a:solidFill>
              <a:srgbClr val="D9DC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0" y="11887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9.7%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19659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invoices cancelled (29 of 300); one big order can distort the product list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29260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8 — cancellations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F7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60120" y="256032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 bulk orders inflate the averages</a:t>
            </a:r>
            <a:endParaRPr lang="en-US" sz="2200" dirty="0"/>
          </a:p>
        </p:txBody>
      </p:sp>
      <p:sp>
        <p:nvSpPr>
          <p:cNvPr id="3" name="Section badge"/>
          <p:cNvSpPr/>
          <p:nvPr/>
        </p:nvSpPr>
        <p:spPr>
          <a:xfrm>
            <a:off x="411480" y="301752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ection number"/>
          <p:cNvSpPr txBox="1"/>
          <p:nvPr/>
        </p:nvSpPr>
        <p:spPr>
          <a:xfrm>
            <a:off x="411480" y="301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Speaker pill"/>
          <p:cNvSpPr/>
          <p:nvPr/>
        </p:nvSpPr>
        <p:spPr>
          <a:xfrm>
            <a:off x="7269480" y="347472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F3F4FA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6" name="Speaker"/>
          <p:cNvSpPr txBox="1"/>
          <p:nvPr/>
        </p:nvSpPr>
        <p:spPr>
          <a:xfrm>
            <a:off x="7269480" y="347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Speaker: Jennilyn</a:t>
            </a:r>
            <a:endParaRPr lang="en-US" sz="11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11480" y="1005840"/>
          <a:ext cx="51206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Card mean vs median units per line"/>
          <p:cNvSpPr/>
          <p:nvPr/>
        </p:nvSpPr>
        <p:spPr>
          <a:xfrm>
            <a:off x="5760720" y="1051560"/>
            <a:ext cx="3017520" cy="914400"/>
          </a:xfrm>
          <a:prstGeom prst="roundRect">
            <a:avLst>
              <a:gd name="adj" fmla="val 8000"/>
            </a:avLst>
          </a:prstGeom>
          <a:solidFill>
            <a:srgbClr val="F3F4FA"/>
          </a:solidFill>
          <a:ln w="12700">
            <a:solidFill>
              <a:srgbClr val="D9DCE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852160" y="112471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11.6 vs 3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5852160" y="158191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vs median units per line</a:t>
            </a:r>
            <a:endParaRPr lang="en-US" sz="1200" dirty="0"/>
          </a:p>
        </p:txBody>
      </p:sp>
      <p:sp>
        <p:nvSpPr>
          <p:cNvPr id="11" name="Card mean vs median line total"/>
          <p:cNvSpPr/>
          <p:nvPr/>
        </p:nvSpPr>
        <p:spPr>
          <a:xfrm>
            <a:off x="5760720" y="2103120"/>
            <a:ext cx="3017520" cy="914400"/>
          </a:xfrm>
          <a:prstGeom prst="roundRect">
            <a:avLst>
              <a:gd name="adj" fmla="val 8000"/>
            </a:avLst>
          </a:prstGeom>
          <a:solidFill>
            <a:srgbClr val="F3F4FA"/>
          </a:solidFill>
          <a:ln w="12700">
            <a:solidFill>
              <a:srgbClr val="D9DCE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852160" y="217627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£21.01 vs £10.20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5852160" y="263347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vs median line total</a:t>
            </a:r>
            <a:endParaRPr lang="en-US" sz="1200" dirty="0"/>
          </a:p>
        </p:txBody>
      </p:sp>
      <p:sp>
        <p:nvSpPr>
          <p:cNvPr id="14" name="Card largest single-line quantity"/>
          <p:cNvSpPr/>
          <p:nvPr/>
        </p:nvSpPr>
        <p:spPr>
          <a:xfrm>
            <a:off x="5760720" y="3154680"/>
            <a:ext cx="3017520" cy="914400"/>
          </a:xfrm>
          <a:prstGeom prst="roundRect">
            <a:avLst>
              <a:gd name="adj" fmla="val 8000"/>
            </a:avLst>
          </a:prstGeom>
          <a:solidFill>
            <a:srgbClr val="F3F4FA"/>
          </a:solidFill>
          <a:ln w="12700">
            <a:solidFill>
              <a:srgbClr val="D9DCE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852160" y="322783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2,880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5852160" y="368503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largest single-line quantity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760720" y="4206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stock from the median; treat bulk orders separately.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F7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60120" y="256032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Basket size matters; price barely does</a:t>
            </a:r>
            <a:endParaRPr lang="en-US" sz="2200" dirty="0"/>
          </a:p>
        </p:txBody>
      </p:sp>
      <p:sp>
        <p:nvSpPr>
          <p:cNvPr id="3" name="Section badge"/>
          <p:cNvSpPr/>
          <p:nvPr/>
        </p:nvSpPr>
        <p:spPr>
          <a:xfrm>
            <a:off x="411480" y="301752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ection number"/>
          <p:cNvSpPr txBox="1"/>
          <p:nvPr/>
        </p:nvSpPr>
        <p:spPr>
          <a:xfrm>
            <a:off x="411480" y="301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Speaker pill"/>
          <p:cNvSpPr/>
          <p:nvPr/>
        </p:nvSpPr>
        <p:spPr>
          <a:xfrm>
            <a:off x="7269480" y="347472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F3F4FA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6" name="Speaker"/>
          <p:cNvSpPr txBox="1"/>
          <p:nvPr/>
        </p:nvSpPr>
        <p:spPr>
          <a:xfrm>
            <a:off x="7269480" y="347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Speaker: Jennilyn</a:t>
            </a:r>
            <a:endParaRPr lang="en-US" sz="1100" dirty="0"/>
          </a:p>
        </p:txBody>
      </p:sp>
      <p:sp>
        <p:nvSpPr>
          <p:cNvPr id="7" name="Card Quantity vs unit price: no real relationship"/>
          <p:cNvSpPr/>
          <p:nvPr/>
        </p:nvSpPr>
        <p:spPr>
          <a:xfrm>
            <a:off x="457200" y="105156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3F4FA"/>
          </a:solidFill>
          <a:ln w="12700">
            <a:solidFill>
              <a:srgbClr val="D9DC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124712"/>
            <a:ext cx="24688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−0.057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847088"/>
            <a:ext cx="2468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Quantity vs unit price: no real relationship</a:t>
            </a:r>
            <a:endParaRPr lang="en-US" sz="1200" dirty="0"/>
          </a:p>
        </p:txBody>
      </p:sp>
      <p:sp>
        <p:nvSpPr>
          <p:cNvPr id="10" name="Card Items per invoice vs invoice value: moderately strong"/>
          <p:cNvSpPr/>
          <p:nvPr/>
        </p:nvSpPr>
        <p:spPr>
          <a:xfrm>
            <a:off x="3246120" y="105156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3D6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37560" y="1124712"/>
            <a:ext cx="24688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0.691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3337560" y="1847088"/>
            <a:ext cx="2468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Items per invoice vs invoice value: moderately strong</a:t>
            </a:r>
            <a:endParaRPr lang="en-US" sz="1200" dirty="0"/>
          </a:p>
        </p:txBody>
      </p:sp>
      <p:sp>
        <p:nvSpPr>
          <p:cNvPr id="13" name="Card Simple regression (CP2): 47.8% of invoice value explained"/>
          <p:cNvSpPr/>
          <p:nvPr/>
        </p:nvSpPr>
        <p:spPr>
          <a:xfrm>
            <a:off x="6035040" y="105156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F3F4FA"/>
          </a:solidFill>
          <a:ln w="12700">
            <a:solidFill>
              <a:srgbClr val="D9DC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26480" y="1124712"/>
            <a:ext cx="25603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= 0.478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1847088"/>
            <a:ext cx="25603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regression (CP2): 47.8% of invoice value explained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65176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265176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 Value = 217.49 + 9.35 × Items per Invoice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749040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&lt; 0.0001, n = 271 invoices. Limit: a single predictor; the intercept is inflated by a few bulk orders. Trend forecast not reliable (R² = 0.047, p = 0.31) → we extend to a multiple regression next.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F7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60120" y="256032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demo: overview and trends</a:t>
            </a:r>
            <a:endParaRPr lang="en-US" sz="2200" dirty="0"/>
          </a:p>
        </p:txBody>
      </p:sp>
      <p:sp>
        <p:nvSpPr>
          <p:cNvPr id="3" name="Section badge"/>
          <p:cNvSpPr/>
          <p:nvPr/>
        </p:nvSpPr>
        <p:spPr>
          <a:xfrm>
            <a:off x="411480" y="301752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ection number"/>
          <p:cNvSpPr txBox="1"/>
          <p:nvPr/>
        </p:nvSpPr>
        <p:spPr>
          <a:xfrm>
            <a:off x="411480" y="301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Speaker pill"/>
          <p:cNvSpPr/>
          <p:nvPr/>
        </p:nvSpPr>
        <p:spPr>
          <a:xfrm>
            <a:off x="7269480" y="347472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F3F4FA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6" name="Speaker"/>
          <p:cNvSpPr txBox="1"/>
          <p:nvPr/>
        </p:nvSpPr>
        <p:spPr>
          <a:xfrm>
            <a:off x="7269480" y="347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Speaker: Jeziel</a:t>
            </a:r>
            <a:endParaRPr lang="en-US" sz="1100" dirty="0"/>
          </a:p>
        </p:txBody>
      </p:sp>
      <p:pic>
        <p:nvPicPr>
          <p:cNvPr id="7" name="Dashboard page 1 executive summary" descr="Dashboard page 1 executive summar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70004"/>
            <a:ext cx="4206240" cy="2431992"/>
          </a:xfrm>
          <a:prstGeom prst="rect">
            <a:avLst/>
          </a:prstGeom>
        </p:spPr>
      </p:pic>
      <p:pic>
        <p:nvPicPr>
          <p:cNvPr id="8" name="Dashboard page 2 trend and comparison" descr="Dashboard page 2 trend and comparis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070004"/>
            <a:ext cx="4206240" cy="243199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36118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 — Executive Summary: £106.19K revenue • 271 orders • 207 customers • £391.83 avg order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4663440" y="36118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 — Trends: orders by hour, completed vs cancelled by country, 9.7% cancel rate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F7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60120" y="256032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Segmentation: 4 customers = 27% of revenue</a:t>
            </a:r>
            <a:endParaRPr lang="en-US" sz="2200" dirty="0"/>
          </a:p>
        </p:txBody>
      </p:sp>
      <p:sp>
        <p:nvSpPr>
          <p:cNvPr id="3" name="Section badge"/>
          <p:cNvSpPr/>
          <p:nvPr/>
        </p:nvSpPr>
        <p:spPr>
          <a:xfrm>
            <a:off x="411480" y="301752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ection number"/>
          <p:cNvSpPr txBox="1"/>
          <p:nvPr/>
        </p:nvSpPr>
        <p:spPr>
          <a:xfrm>
            <a:off x="411480" y="301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Speaker pill"/>
          <p:cNvSpPr/>
          <p:nvPr/>
        </p:nvSpPr>
        <p:spPr>
          <a:xfrm>
            <a:off x="7269480" y="347472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F3F4FA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6" name="Speaker"/>
          <p:cNvSpPr txBox="1"/>
          <p:nvPr/>
        </p:nvSpPr>
        <p:spPr>
          <a:xfrm>
            <a:off x="7269480" y="347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Speaker: Jeziel</a:t>
            </a:r>
            <a:endParaRPr lang="en-US" sz="1100" dirty="0"/>
          </a:p>
        </p:txBody>
      </p:sp>
      <p:pic>
        <p:nvPicPr>
          <p:cNvPr id="7" name="Dashboard page 3 segmentation deep dive" descr="Dashboard page 3 segmentation deep div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14972"/>
            <a:ext cx="5029200" cy="2907816"/>
          </a:xfrm>
          <a:prstGeom prst="rect">
            <a:avLst/>
          </a:prstGeom>
        </p:spPr>
      </p:pic>
      <p:graphicFrame>
        <p:nvGraphicFramePr>
          <p:cNvPr id="8" name="Chart 0" descr=""/>
          <p:cNvGraphicFramePr/>
          <p:nvPr/>
        </p:nvGraphicFramePr>
        <p:xfrm>
          <a:off x="5486400" y="960120"/>
          <a:ext cx="33375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57200" y="406908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K-Means, k = 3, on 189 customers (log-scaled spend, orders, AOV). Only ~3 days of data → Mid vs Low reflects spend per order, not loyalty.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F7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60120" y="256032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regression explains 80% of value</a:t>
            </a:r>
            <a:endParaRPr lang="en-US" sz="2200" dirty="0"/>
          </a:p>
        </p:txBody>
      </p:sp>
      <p:sp>
        <p:nvSpPr>
          <p:cNvPr id="3" name="Section badge"/>
          <p:cNvSpPr/>
          <p:nvPr/>
        </p:nvSpPr>
        <p:spPr>
          <a:xfrm>
            <a:off x="411480" y="301752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ection number"/>
          <p:cNvSpPr txBox="1"/>
          <p:nvPr/>
        </p:nvSpPr>
        <p:spPr>
          <a:xfrm>
            <a:off x="411480" y="301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5" name="Speaker pill"/>
          <p:cNvSpPr/>
          <p:nvPr/>
        </p:nvSpPr>
        <p:spPr>
          <a:xfrm>
            <a:off x="7269480" y="347472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F3F4FA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6" name="Speaker"/>
          <p:cNvSpPr txBox="1"/>
          <p:nvPr/>
        </p:nvSpPr>
        <p:spPr>
          <a:xfrm>
            <a:off x="7269480" y="347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Speaker: Jennilyn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8321040" cy="777240"/>
          </a:xfrm>
          <a:prstGeom prst="roundRect">
            <a:avLst>
              <a:gd name="adj" fmla="val 9412"/>
            </a:avLst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00584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= 52.65 + 7.20 × Lines + 0.946 × Quantity</a:t>
            </a:r>
            <a:endParaRPr lang="en-US" sz="2200" dirty="0"/>
          </a:p>
        </p:txBody>
      </p:sp>
      <p:sp>
        <p:nvSpPr>
          <p:cNvPr id="9" name="Card R²"/>
          <p:cNvSpPr/>
          <p:nvPr/>
        </p:nvSpPr>
        <p:spPr>
          <a:xfrm>
            <a:off x="457200" y="1965960"/>
            <a:ext cx="1325880" cy="1051560"/>
          </a:xfrm>
          <a:prstGeom prst="roundRect">
            <a:avLst>
              <a:gd name="adj" fmla="val 6957"/>
            </a:avLst>
          </a:prstGeom>
          <a:solidFill>
            <a:srgbClr val="F3F4FA"/>
          </a:solidFill>
          <a:ln w="12700">
            <a:solidFill>
              <a:srgbClr val="D9DC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039112"/>
            <a:ext cx="114300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0.802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575865"/>
            <a:ext cx="114300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</a:t>
            </a:r>
            <a:endParaRPr lang="en-US" sz="1100" dirty="0"/>
          </a:p>
        </p:txBody>
      </p:sp>
      <p:sp>
        <p:nvSpPr>
          <p:cNvPr id="12" name="Card adjusted R²"/>
          <p:cNvSpPr/>
          <p:nvPr/>
        </p:nvSpPr>
        <p:spPr>
          <a:xfrm>
            <a:off x="1874520" y="1965960"/>
            <a:ext cx="1325880" cy="1051560"/>
          </a:xfrm>
          <a:prstGeom prst="roundRect">
            <a:avLst>
              <a:gd name="adj" fmla="val 6957"/>
            </a:avLst>
          </a:prstGeom>
          <a:solidFill>
            <a:srgbClr val="F3F4FA"/>
          </a:solidFill>
          <a:ln w="12700">
            <a:solidFill>
              <a:srgbClr val="D9DC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965960" y="2039112"/>
            <a:ext cx="114300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0.800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965960" y="2575865"/>
            <a:ext cx="114300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adjusted R²</a:t>
            </a:r>
            <a:endParaRPr lang="en-US" sz="1100" dirty="0"/>
          </a:p>
        </p:txBody>
      </p:sp>
      <p:sp>
        <p:nvSpPr>
          <p:cNvPr id="15" name="Card standard error"/>
          <p:cNvSpPr/>
          <p:nvPr/>
        </p:nvSpPr>
        <p:spPr>
          <a:xfrm>
            <a:off x="457200" y="3108960"/>
            <a:ext cx="1325880" cy="1051560"/>
          </a:xfrm>
          <a:prstGeom prst="roundRect">
            <a:avLst>
              <a:gd name="adj" fmla="val 6957"/>
            </a:avLst>
          </a:prstGeom>
          <a:solidFill>
            <a:srgbClr val="F3F4FA"/>
          </a:solidFill>
          <a:ln w="12700">
            <a:solidFill>
              <a:srgbClr val="D9DC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182112"/>
            <a:ext cx="114300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£299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718865"/>
            <a:ext cx="114300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error</a:t>
            </a:r>
            <a:endParaRPr lang="en-US" sz="1100" dirty="0"/>
          </a:p>
        </p:txBody>
      </p:sp>
      <p:sp>
        <p:nvSpPr>
          <p:cNvPr id="18" name="Card F (p &lt; 0.0001)"/>
          <p:cNvSpPr/>
          <p:nvPr/>
        </p:nvSpPr>
        <p:spPr>
          <a:xfrm>
            <a:off x="1874520" y="3108960"/>
            <a:ext cx="1325880" cy="1051560"/>
          </a:xfrm>
          <a:prstGeom prst="roundRect">
            <a:avLst>
              <a:gd name="adj" fmla="val 6957"/>
            </a:avLst>
          </a:prstGeom>
          <a:solidFill>
            <a:srgbClr val="F3F4FA"/>
          </a:solidFill>
          <a:ln w="12700">
            <a:solidFill>
              <a:srgbClr val="D9DC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965960" y="3182112"/>
            <a:ext cx="114300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542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1965960" y="3718865"/>
            <a:ext cx="114300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 (p &lt; 0.0001)</a:t>
            </a:r>
            <a:endParaRPr lang="en-US" sz="11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3383280" y="1920240"/>
          <a:ext cx="539496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 txBox="1"/>
          <p:nvPr/>
        </p:nvSpPr>
        <p:spPr>
          <a:xfrm>
            <a:off x="457200" y="42519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= invoice value (£); X1 = lines per invoice; X2 = total units. n = 271 completed invoices. Both predictors p &lt; 0.0001.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F7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60120" y="256032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Predictions — and how far off they can be</a:t>
            </a:r>
            <a:endParaRPr lang="en-US" sz="2200" dirty="0"/>
          </a:p>
        </p:txBody>
      </p:sp>
      <p:sp>
        <p:nvSpPr>
          <p:cNvPr id="3" name="Section badge"/>
          <p:cNvSpPr/>
          <p:nvPr/>
        </p:nvSpPr>
        <p:spPr>
          <a:xfrm>
            <a:off x="411480" y="301752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ection number"/>
          <p:cNvSpPr txBox="1"/>
          <p:nvPr/>
        </p:nvSpPr>
        <p:spPr>
          <a:xfrm>
            <a:off x="411480" y="301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5" name="Speaker pill"/>
          <p:cNvSpPr/>
          <p:nvPr/>
        </p:nvSpPr>
        <p:spPr>
          <a:xfrm>
            <a:off x="7269480" y="347472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F3F4FA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6" name="Speaker"/>
          <p:cNvSpPr txBox="1"/>
          <p:nvPr/>
        </p:nvSpPr>
        <p:spPr>
          <a:xfrm>
            <a:off x="7269480" y="347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Speaker: Jennilyn</a:t>
            </a:r>
            <a:endParaRPr lang="en-US" sz="1100" dirty="0"/>
          </a:p>
        </p:txBody>
      </p:sp>
      <p:pic>
        <p:nvPicPr>
          <p:cNvPr id="7" name="Actual vs predicted and residual plots" descr="Actual vs predicted and residual plo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982066"/>
            <a:ext cx="5120640" cy="2150669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5000" y="1051560"/>
          <a:ext cx="310896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548640"/>
                <a:gridCol w="548640"/>
                <a:gridCol w="6858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Scenario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Pred.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Small basket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£102.64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Typical (median) basket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£232.15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Large basket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£647.13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Typical + 5 extra lines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£268.16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715000" y="27889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miss: £152 (mean absolute error, 39% of mean invoice). Approx. range ±£586.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379476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Residuals fan out at higher values, and 13 of 271 invoices (4.8%) miss by more than 2 standard errors — use the model to compare scenarios, not to quote exact invoice totals.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F7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60120" y="256032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model tells us</a:t>
            </a:r>
            <a:endParaRPr lang="en-US" sz="2200" dirty="0"/>
          </a:p>
        </p:txBody>
      </p:sp>
      <p:sp>
        <p:nvSpPr>
          <p:cNvPr id="3" name="Section badge"/>
          <p:cNvSpPr/>
          <p:nvPr/>
        </p:nvSpPr>
        <p:spPr>
          <a:xfrm>
            <a:off x="411480" y="301752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ection number"/>
          <p:cNvSpPr txBox="1"/>
          <p:nvPr/>
        </p:nvSpPr>
        <p:spPr>
          <a:xfrm>
            <a:off x="411480" y="301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5" name="Speaker pill"/>
          <p:cNvSpPr/>
          <p:nvPr/>
        </p:nvSpPr>
        <p:spPr>
          <a:xfrm>
            <a:off x="7269480" y="347472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F3F4FA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6" name="Speaker"/>
          <p:cNvSpPr txBox="1"/>
          <p:nvPr/>
        </p:nvSpPr>
        <p:spPr>
          <a:xfrm>
            <a:off x="7269480" y="347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Speaker: Jennilyn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F3F4FA"/>
          </a:solidFill>
          <a:ln w="12700">
            <a:solidFill>
              <a:srgbClr val="D9DC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14300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+£7.20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9202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extra product line (units held constant)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6974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 coefficient 7.20, p &lt; 0.0001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00584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F3F4FA"/>
          </a:solidFill>
          <a:ln w="12700">
            <a:solidFill>
              <a:srgbClr val="D9DC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83280" y="114300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+£0.95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19202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extra unit on an invoice (lines held constant)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26974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Quantity coefficient 0.946, p &lt; 0.0001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00584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F3F4FA"/>
          </a:solidFill>
          <a:ln w="12700">
            <a:solidFill>
              <a:srgbClr val="D9DC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0" y="114300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£0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19202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 by average unit price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26974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gain 0.0009; p = 0.26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52044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35204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dashboard segments: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High-Value customers (2.1%) generate 27.2% of revenue; Mid-Value shoppers (56.1% of customers) generate 59.4%.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F7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60120" y="256032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assumptions and limitations</a:t>
            </a:r>
            <a:endParaRPr lang="en-US" sz="2200" dirty="0"/>
          </a:p>
        </p:txBody>
      </p:sp>
      <p:sp>
        <p:nvSpPr>
          <p:cNvPr id="3" name="Section badge"/>
          <p:cNvSpPr/>
          <p:nvPr/>
        </p:nvSpPr>
        <p:spPr>
          <a:xfrm>
            <a:off x="411480" y="301752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ection number"/>
          <p:cNvSpPr txBox="1"/>
          <p:nvPr/>
        </p:nvSpPr>
        <p:spPr>
          <a:xfrm>
            <a:off x="411480" y="301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5" name="Speaker pill"/>
          <p:cNvSpPr/>
          <p:nvPr/>
        </p:nvSpPr>
        <p:spPr>
          <a:xfrm>
            <a:off x="7269480" y="347472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F3F4FA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6" name="Speaker"/>
          <p:cNvSpPr txBox="1"/>
          <p:nvPr/>
        </p:nvSpPr>
        <p:spPr>
          <a:xfrm>
            <a:off x="7269480" y="347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Speaker: Jennilyn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3F4FA"/>
          </a:solidFill>
          <a:ln w="12700">
            <a:solidFill>
              <a:srgbClr val="D9DC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1430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days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7830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data (1–3 Dec 2010), one retailer, 271 invoices — re-fit before using elsewhere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05156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3F4FA"/>
          </a:solidFill>
          <a:ln w="12700">
            <a:solidFill>
              <a:srgbClr val="D9DC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1430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±£586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7830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approximate prediction range around any single invoice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78892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3F4FA"/>
          </a:solidFill>
          <a:ln w="12700">
            <a:solidFill>
              <a:srgbClr val="D9DC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28803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link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5204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 value = quantity × price, so quantity is partly mechanical as a predictor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278892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3F4FA"/>
          </a:solidFill>
          <a:ln w="12700">
            <a:solidFill>
              <a:srgbClr val="D9DC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46320" y="28803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4.8%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35204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invoices are outliers (residual &gt; 2 SE); max £6,308 vs median £248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F7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60120" y="256032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Ethics, privacy and governance</a:t>
            </a:r>
            <a:endParaRPr lang="en-US" sz="2200" dirty="0"/>
          </a:p>
        </p:txBody>
      </p:sp>
      <p:sp>
        <p:nvSpPr>
          <p:cNvPr id="3" name="Section badge"/>
          <p:cNvSpPr/>
          <p:nvPr/>
        </p:nvSpPr>
        <p:spPr>
          <a:xfrm>
            <a:off x="411480" y="301752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ection number"/>
          <p:cNvSpPr txBox="1"/>
          <p:nvPr/>
        </p:nvSpPr>
        <p:spPr>
          <a:xfrm>
            <a:off x="411480" y="301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5" name="Speaker pill"/>
          <p:cNvSpPr/>
          <p:nvPr/>
        </p:nvSpPr>
        <p:spPr>
          <a:xfrm>
            <a:off x="7269480" y="347472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F3F4FA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6" name="Speaker"/>
          <p:cNvSpPr txBox="1"/>
          <p:nvPr/>
        </p:nvSpPr>
        <p:spPr>
          <a:xfrm>
            <a:off x="7269480" y="347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Speaker: Nicka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3F4FA"/>
          </a:solidFill>
          <a:ln w="12700">
            <a:solidFill>
              <a:srgbClr val="D9DC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143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55448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 CustomerID only — no names or addresses. 24.9% of raw rows are guest checkouts.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05156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3F4FA"/>
          </a:solidFill>
          <a:ln w="12700">
            <a:solidFill>
              <a:srgbClr val="D9DC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143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Ethical issues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55448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Segments could be used to treat customers differently. Who is missing from a 3-day, UK-heavy sample?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69748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3F4FA"/>
          </a:solidFill>
          <a:ln w="12700">
            <a:solidFill>
              <a:srgbClr val="D9DC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2788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20040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CC BY 4.0 dataset. Who owns it, who may use it, how is it documented and reviewed?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269748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3F4FA"/>
          </a:solidFill>
          <a:ln w="12700">
            <a:solidFill>
              <a:srgbClr val="D9DC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46320" y="2788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Regulation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320040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 10173 (Data Privacy Act of 2012); GDPR concept — lawful basis, minimisation, profiling.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F7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defense / Q&amp;A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92608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5CA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— we welcome your questions.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D106 Capstone">
  <a:themeElements>
    <a:clrScheme name="BED106 Capstone">
      <a:dk1>
        <a:srgbClr val="1F2340"/>
      </a:dk1>
      <a:lt1>
        <a:srgbClr val="FFFFFF"/>
      </a:lt1>
      <a:dk2>
        <a:srgbClr val="1A237E"/>
      </a:dk2>
      <a:lt2>
        <a:srgbClr val="F3F4FA"/>
      </a:lt2>
      <a:accent1>
        <a:srgbClr val="1A237E"/>
      </a:accent1>
      <a:accent2>
        <a:srgbClr val="F5A623"/>
      </a:accent2>
      <a:accent3>
        <a:srgbClr val="3949AB"/>
      </a:accent3>
      <a:accent4>
        <a:srgbClr val="C99A2E"/>
      </a:accent4>
      <a:accent5>
        <a:srgbClr val="2E7D32"/>
      </a:accent5>
      <a:accent6>
        <a:srgbClr val="B71C1C"/>
      </a:accent6>
      <a:hlink>
        <a:srgbClr val="3949AB"/>
      </a:hlink>
      <a:folHlink>
        <a:srgbClr val="555555"/>
      </a:folHlink>
    </a:clrScheme>
    <a:fontScheme name="BED106 Capston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Defense — Customer Segmentation &amp; Purchase Behavior Analysis</dc:title>
  <dc:subject>PptxGenJS Presentation</dc:subject>
  <dc:creator>BED 106 Capstone Group</dc:creator>
  <cp:lastModifiedBy>BED 106 Capstone Group</cp:lastModifiedBy>
  <cp:revision>1</cp:revision>
  <dcterms:created xsi:type="dcterms:W3CDTF">2026-10-26T12:02:56Z</dcterms:created>
  <dcterms:modified xsi:type="dcterms:W3CDTF">2026-10-26T12:02:56Z</dcterms:modified>
</cp:coreProperties>
</file>